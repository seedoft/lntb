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12161520" cy="1965960"/>
          </a:xfrm>
          <a:prstGeom prst="rect">
            <a:avLst/>
          </a:prstGeom>
          <a:solidFill>
            <a:srgbClr val="1A4127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1463040"/>
            <a:ext cx="4114800" cy="4114800"/>
          </a:xfrm>
          <a:prstGeom prst="ellipse">
            <a:avLst/>
          </a:prstGeom>
          <a:solidFill>
            <a:srgbClr val="3B7A44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206240"/>
            <a:ext cx="3291840" cy="3291840"/>
          </a:xfrm>
          <a:prstGeom prst="ellipse">
            <a:avLst/>
          </a:prstGeom>
          <a:solidFill>
            <a:srgbClr val="C0392B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202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LNTB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Tomato Farming System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33375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+ AI-driven irrigation, ripeness detection, and cost tracking for net-house tomato farming in Cambodia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5257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Leading Next-Gen Tomato Business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5623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8AF"/>
                </a:solidFill>
              </a:rPr>
              <a:t>Laravel  ·  Flutter  ·  Arduino (ESP32)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are managing tomato crops on guesswork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E7F0E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0312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moisture visibility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can't measure soil moisture precisely, leading to over- or under-watering that hurts crop growth.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E7F0E7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10312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63440" y="28346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Guesswork harvesting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342900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Ripeness is judged by eye across thousands of plants — inconsistent and labor-heavy.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182880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E7F0E7"/>
          </a:solidFill>
          <a:ln/>
        </p:spPr>
      </p:sp>
      <p:sp>
        <p:nvSpPr>
          <p:cNvPr id="15" name="Shape 13"/>
          <p:cNvSpPr/>
          <p:nvPr/>
        </p:nvSpPr>
        <p:spPr>
          <a:xfrm>
            <a:off x="8503920" y="210312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03920" y="28346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true cost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03920" y="342900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(m³) and electricity (kWh) usage per day is rarely tracked, making profit hard to calculate.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440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B7A44"/>
                </a:solidFill>
              </a:rPr>
              <a:t>Location: commercial net-house / cherry tomato farms across Cambodia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70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goals driving the system 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7F0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1874520" y="1783080"/>
            <a:ext cx="36576" cy="10058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2103120" y="164592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B22"/>
                </a:solidFill>
              </a:rPr>
              <a:t>Smart Irrigation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103120" y="21031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70"/>
                </a:solidFill>
              </a:rPr>
              <a:t>Design and install smart soil-moisture sensors to auto-control irrigation, plus measure real water (m³) and electricity (kWh) usage.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7F0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1874520" y="3291840"/>
            <a:ext cx="36576" cy="10058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2103120" y="315468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B22"/>
                </a:solidFill>
              </a:rPr>
              <a:t>Ripeness Detection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103120" y="361188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70"/>
                </a:solidFill>
              </a:rPr>
              <a:t>Develop a sensor + AI camera system to evaluate and confirm which fruit has reached harvest-ready standard.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70916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7F0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1874520" y="4800600"/>
            <a:ext cx="36576" cy="10058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2103120" y="466344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B22"/>
                </a:solidFill>
              </a:rPr>
              <a:t>Mobile Application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103120" y="512064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70"/>
                </a:solidFill>
              </a:rPr>
              <a:t>Build a mobile app to log daily operations (irrigation count, water, power) and push real-time notifications to farmers.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70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layers, one intermediary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834640" cy="1371600"/>
          </a:xfrm>
          <a:prstGeom prst="roundRect">
            <a:avLst>
              <a:gd name="adj" fmla="val 5333"/>
            </a:avLst>
          </a:prstGeom>
          <a:solidFill>
            <a:srgbClr val="D9A44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54203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IoT / Firmware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999232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ESP32 · ESP32-CAM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Arduino (C++)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2377440"/>
            <a:ext cx="2834640" cy="1371600"/>
          </a:xfrm>
          <a:prstGeom prst="roundRect">
            <a:avLst>
              <a:gd name="adj" fmla="val 5333"/>
            </a:avLst>
          </a:prstGeom>
          <a:solidFill>
            <a:srgbClr val="3B7A44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254203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Laravel Backend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63440" y="2999232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MySQL · Sanctum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Reverb · FCM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686800" y="2377440"/>
            <a:ext cx="2834640" cy="1371600"/>
          </a:xfrm>
          <a:prstGeom prst="roundRect">
            <a:avLst>
              <a:gd name="adj" fmla="val 5333"/>
            </a:avLst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0" y="254203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Flutter Mobile App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0" y="2999232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Riverpod · GoRouter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Khmer UI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520440" y="2834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770"/>
                </a:solidFill>
              </a:rPr>
              <a:t>HTTPS / JSON →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52360" y="28346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770"/>
                </a:solidFill>
              </a:rPr>
              <a:t>← REST + WebSocket + FCM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4206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firmware and the mobile app never talk directly — Laravel is the single source of truth for data, cost calculation, and notifications.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D2E"/>
                </a:solidFill>
              </a:rPr>
              <a:t>Sensor → Irrigation Trigger → Cost Calculation → Dashboard + Notification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70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&amp; control bill of materials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7498080" cy="4480560"/>
        </p:xfrm>
        <a:graphic>
          <a:graphicData uri="http://schemas.openxmlformats.org/drawingml/2006/table">
            <a:tbl>
              <a:tblPr/>
              <a:tblGrid>
                <a:gridCol w="2743200"/>
                <a:gridCol w="2651760"/>
                <a:gridCol w="914400"/>
                <a:gridCol w="11887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(USD)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Microcontroller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sensor node controller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ESP32-CAM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Ripeness detection camera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Soil Moisture Sensor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Soil moisture reading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DHT22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 &amp; humidity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LDR Sensor + Servo Motor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 + auto net roof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2-Ch Relay + Pump + Fan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Irrigation / ventilation control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Wiring &amp; enclosure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Assembly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App + Cloud budget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&amp; test server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691640"/>
            <a:ext cx="7498080" cy="438912"/>
          </a:xfrm>
          <a:prstGeom prst="rect">
            <a:avLst/>
          </a:prstGeom>
          <a:solidFill>
            <a:srgbClr val="1F4D2E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691640"/>
            <a:ext cx="2743200" cy="43891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Component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291840" y="1691640"/>
            <a:ext cx="2651760" cy="43891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Purpose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943600" y="1691640"/>
            <a:ext cx="914400" cy="43891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Qty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858000" y="1691640"/>
            <a:ext cx="1188720" cy="43891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Cost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366760" y="1691640"/>
            <a:ext cx="3246120" cy="4480560"/>
          </a:xfrm>
          <a:prstGeom prst="roundRect">
            <a:avLst>
              <a:gd name="adj" fmla="val 2254"/>
            </a:avLst>
          </a:prstGeom>
          <a:solidFill>
            <a:srgbClr val="E7F0E7"/>
          </a:solidFill>
          <a:ln/>
        </p:spPr>
      </p:sp>
      <p:sp>
        <p:nvSpPr>
          <p:cNvPr id="11" name="Text 8"/>
          <p:cNvSpPr/>
          <p:nvPr/>
        </p:nvSpPr>
        <p:spPr>
          <a:xfrm>
            <a:off x="8595360" y="201168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22"/>
                </a:solidFill>
              </a:rPr>
              <a:t>Total Estimated Budget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595360" y="260604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0392B"/>
                </a:solidFill>
              </a:rPr>
              <a:t>$103.50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8595360" y="342900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70"/>
                </a:solidFill>
              </a:rPr>
              <a:t>per net house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595360" y="4206240"/>
            <a:ext cx="2788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Budget-conscious sourcing keeps the system affordable for small and medium farmers.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70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stack per layer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1E7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3520440" cy="59436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3736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Firmware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C++ (Arduino Framework)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17296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PlatformIO / Arduino IDE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739896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DHT, ESP32Servo, HTTPClient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4306824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ArduinoJson, esp32-camera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89120" y="173736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1E7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1737360"/>
            <a:ext cx="3520440" cy="594360"/>
          </a:xfrm>
          <a:prstGeom prst="rect">
            <a:avLst/>
          </a:prstGeom>
          <a:solidFill>
            <a:srgbClr val="3B7A44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173736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Backend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26060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Laravel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663440" y="317296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Sanctum (auth)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663440" y="3739896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Reverb (realtime)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663440" y="4306824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MySQL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663440" y="487375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Firebase Cloud Messaging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0" y="173736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1E7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1737360"/>
            <a:ext cx="3520440" cy="5943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173736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Mobile App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03920" y="26060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Flutter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503920" y="317296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Riverpod (state)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503920" y="3739896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GoRouter (routing)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503920" y="4306824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Dio (HTTP)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503920" y="487375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Khmer .arb localization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70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functional requirements across three modules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E7F0E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202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D9A441"/>
                </a:solidFill>
              </a:rPr>
              <a:t>13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77240" y="27889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770"/>
                </a:solidFill>
              </a:rPr>
              <a:t>FR-HW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22"/>
                </a:solidFill>
              </a:rPr>
              <a:t>Firmware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52044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reads, command polling, pump/servo control, fallback logic, camera capture.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73736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E7F0E7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9202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B7A44"/>
                </a:solidFill>
              </a:rPr>
              <a:t>14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4617720" y="27889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770"/>
                </a:solidFill>
              </a:rPr>
              <a:t>FR-BE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17720" y="31089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22"/>
                </a:solidFill>
              </a:rPr>
              <a:t>Backend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352044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Ingestion, cost calc, broadcasting, notifications, auth, logbook queries.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0" y="173736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E7F0E7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19202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0392B"/>
                </a:solidFill>
              </a:rPr>
              <a:t>12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8458200" y="27889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770"/>
                </a:solidFill>
              </a:rPr>
              <a:t>FR-APP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58200" y="31089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22"/>
                </a:solidFill>
              </a:rPr>
              <a:t>Mobile App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58200" y="352044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manual control, ripeness view, cost view, logbook, Khmer UI.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5029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4D2E"/>
                </a:solidFill>
              </a:rPr>
              <a:t>Plus 10 non-functional requirements covering usability, performance, reliability, security, and localization.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70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– August, four phases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881360" cy="0"/>
          </a:xfrm>
          <a:prstGeom prst="line">
            <a:avLst/>
          </a:prstGeom>
          <a:noFill/>
          <a:ln w="25400">
            <a:solidFill>
              <a:srgbClr val="D9E3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41932" y="1581912"/>
            <a:ext cx="219456" cy="21945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116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D2E"/>
                </a:solidFill>
              </a:rPr>
              <a:t>May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1E7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6060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2"/>
                </a:solidFill>
              </a:rPr>
              <a:t>Ideation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22402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discussion, identify farmer problems, initial proposal, task allocation.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6572" y="1581912"/>
            <a:ext cx="219456" cy="21945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20116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D2E"/>
                </a:solidFill>
              </a:rPr>
              <a:t>June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383280" y="242316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1E7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6060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2"/>
                </a:solidFill>
              </a:rPr>
              <a:t>Design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566160" y="3063240"/>
            <a:ext cx="22402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Schematic design, net-house prototype, app UI/UX design, hardware procurement.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11212" y="1581912"/>
            <a:ext cx="219456" cy="21945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20116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D2E"/>
                </a:solidFill>
              </a:rPr>
              <a:t>July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0" y="242316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1E7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26060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2"/>
                </a:solidFill>
              </a:rPr>
              <a:t>Build &amp; Test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00800" y="3063240"/>
            <a:ext cx="22402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hardware, write firmware, train AI on ripeness images, install app, field test.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245852" y="1581912"/>
            <a:ext cx="219456" cy="21945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9052560" y="20116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D2E"/>
                </a:solidFill>
              </a:rPr>
              <a:t>August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052560" y="242316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1E7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35440" y="26060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2"/>
                </a:solidFill>
              </a:rPr>
              <a:t>Finalize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235440" y="3063240"/>
            <a:ext cx="22402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system from test results, summarize outcomes, final presentation.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70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4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Expected Impact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1A4127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8288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A441"/>
                </a:solidFill>
              </a:rPr>
              <a:t>20–30%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water &amp; electricity waste via automated shut-off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89120" y="155448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1A4127"/>
          </a:solidFill>
          <a:ln/>
        </p:spPr>
      </p:sp>
      <p:sp>
        <p:nvSpPr>
          <p:cNvPr id="7" name="Text 5"/>
          <p:cNvSpPr/>
          <p:nvPr/>
        </p:nvSpPr>
        <p:spPr>
          <a:xfrm>
            <a:off x="4617720" y="18288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A441"/>
                </a:solidFill>
              </a:rPr>
              <a:t>100%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617720" y="269748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Ripeness classification clarity — removes guesswork from harvesting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0" y="155448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1A4127"/>
          </a:solidFill>
          <a:ln/>
        </p:spPr>
      </p:sp>
      <p:sp>
        <p:nvSpPr>
          <p:cNvPr id="10" name="Text 8"/>
          <p:cNvSpPr/>
          <p:nvPr/>
        </p:nvSpPr>
        <p:spPr>
          <a:xfrm>
            <a:off x="8458200" y="18288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A441"/>
                </a:solidFill>
              </a:rPr>
              <a:t>100%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458200" y="269748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Khmer-language interface — accessible to all skill levels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4206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D7E3D7"/>
                </a:solidFill>
              </a:rPr>
              <a:t>Sustainability: targeted irrigation conserves groundwater and cuts unnecessary electricity use, aligned with green agriculture practices.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70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657600" cy="3657600"/>
          </a:xfrm>
          <a:prstGeom prst="ellipse">
            <a:avLst/>
          </a:prstGeom>
          <a:solidFill>
            <a:srgbClr val="E7F0E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4688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2B22"/>
                </a:solidFill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7A44"/>
                </a:solidFill>
              </a:rPr>
              <a:t>LNTB — Leading Next-Gen Tomato Business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70"/>
                </a:solidFill>
              </a:rPr>
              <a:t>Questions &amp; Discussion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70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2026-07-11T02:23:44Z</dcterms:created>
  <dcterms:modified xsi:type="dcterms:W3CDTF">2026-07-11T02:23:44Z</dcterms:modified>
</cp:coreProperties>
</file>